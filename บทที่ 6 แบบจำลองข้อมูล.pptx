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7"/>
  </p:notesMasterIdLst>
  <p:sldIdLst>
    <p:sldId id="257" r:id="rId2"/>
    <p:sldId id="258" r:id="rId3"/>
    <p:sldId id="359" r:id="rId4"/>
    <p:sldId id="336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9" r:id="rId21"/>
    <p:sldId id="376" r:id="rId22"/>
    <p:sldId id="380" r:id="rId23"/>
    <p:sldId id="377" r:id="rId24"/>
    <p:sldId id="378" r:id="rId25"/>
    <p:sldId id="290" r:id="rId2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FF66"/>
    <a:srgbClr val="FFCC99"/>
    <a:srgbClr val="FFCCFF"/>
    <a:srgbClr val="231F20"/>
    <a:srgbClr val="FEF200"/>
    <a:srgbClr val="ED008C"/>
    <a:srgbClr val="01AEF0"/>
    <a:srgbClr val="FF505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4364" autoAdjust="0"/>
  </p:normalViewPr>
  <p:slideViewPr>
    <p:cSldViewPr snapToGrid="0">
      <p:cViewPr varScale="1">
        <p:scale>
          <a:sx n="78" d="100"/>
          <a:sy n="78" d="100"/>
        </p:scale>
        <p:origin x="8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8BB16-A843-4CF4-833C-5E418F8370FC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02F9E-5F50-4C1E-8621-7AAF142C3CC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422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79985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chapter in today have a 3 topics 1. The importance of images in communication 2. Types and characteristics of images and 3. Photo captions.</a:t>
            </a:r>
          </a:p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15735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25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3942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0667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2424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058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8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898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80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952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853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1174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1119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3976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7244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676" y="1463773"/>
            <a:ext cx="10993549" cy="1322290"/>
          </a:xfrm>
        </p:spPr>
        <p:txBody>
          <a:bodyPr>
            <a:normAutofit fontScale="90000"/>
          </a:bodyPr>
          <a:lstStyle/>
          <a:p>
            <a:pPr algn="ctr"/>
            <a:r>
              <a:rPr lang="th-TH" sz="4400" dirty="0">
                <a:latin typeface="Kanit" pitchFamily="2" charset="-34"/>
                <a:cs typeface="Kanit" pitchFamily="2" charset="-34"/>
              </a:rPr>
              <a:t>บทที่ </a:t>
            </a:r>
            <a:r>
              <a:rPr lang="en-US" sz="4400" dirty="0">
                <a:latin typeface="Kanit" pitchFamily="2" charset="-34"/>
                <a:cs typeface="Kanit" pitchFamily="2" charset="-34"/>
              </a:rPr>
              <a:t>6</a:t>
            </a:r>
            <a:br>
              <a:rPr lang="en-US" sz="4400" dirty="0">
                <a:latin typeface="Kanit" pitchFamily="2" charset="-34"/>
                <a:cs typeface="Kanit" pitchFamily="2" charset="-34"/>
              </a:rPr>
            </a:br>
            <a:r>
              <a:rPr lang="th-TH" sz="4000" dirty="0">
                <a:latin typeface="Kanit" pitchFamily="2" charset="-34"/>
                <a:cs typeface="Kanit" pitchFamily="2" charset="-34"/>
              </a:rPr>
              <a:t>แบบจำลองข้อมูล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 (Data  Modeling)</a:t>
            </a:r>
            <a:r>
              <a:rPr lang="th-TH" sz="4000" dirty="0">
                <a:latin typeface="Kanit" pitchFamily="2" charset="-34"/>
                <a:cs typeface="Kanit" pitchFamily="2" charset="-34"/>
              </a:rPr>
              <a:t> </a:t>
            </a:r>
            <a:endParaRPr lang="th-TH" sz="4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62261" y="5881457"/>
            <a:ext cx="533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Miss </a:t>
            </a:r>
            <a:r>
              <a:rPr lang="en-US" sz="1800" dirty="0" err="1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Piyada</a:t>
            </a:r>
            <a:r>
              <a:rPr lang="en-US" sz="18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  </a:t>
            </a:r>
            <a:r>
              <a:rPr lang="en-US" sz="1800" dirty="0" err="1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Losantia</a:t>
            </a:r>
            <a:r>
              <a:rPr lang="en-US" sz="18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, Information System, RMUTI</a:t>
            </a:r>
            <a:endParaRPr lang="th-TH" sz="1800" dirty="0">
              <a:solidFill>
                <a:schemeClr val="bg1"/>
              </a:solidFill>
              <a:latin typeface="Kanit" pitchFamily="2" charset="-34"/>
              <a:cs typeface="Kanit" pitchFamily="2" charset="-3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76" y="622776"/>
            <a:ext cx="2599324" cy="77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2212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7"/>
            <a:ext cx="11029616" cy="821844"/>
          </a:xfrm>
        </p:spPr>
        <p:txBody>
          <a:bodyPr>
            <a:norm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บทที่ </a:t>
            </a:r>
            <a:r>
              <a:rPr lang="en-US" sz="3200" dirty="0">
                <a:latin typeface="Kanit" pitchFamily="2" charset="-34"/>
                <a:cs typeface="Kanit" pitchFamily="2" charset="-34"/>
              </a:rPr>
              <a:t>6 </a:t>
            </a:r>
            <a:r>
              <a:rPr lang="th-TH" sz="3200" dirty="0">
                <a:latin typeface="Kanit" pitchFamily="2" charset="-34"/>
                <a:cs typeface="Kanit" pitchFamily="2" charset="-34"/>
              </a:rPr>
              <a:t>แบบจำลองข้อมูล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80659" y="2078179"/>
            <a:ext cx="8659086" cy="3893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Process Model Vs Data Model</a:t>
            </a:r>
            <a:endParaRPr lang="th-TH" sz="2800" dirty="0">
              <a:solidFill>
                <a:schemeClr val="tx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Entity Relationship Diagram (ERD)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Data Dictionary</a:t>
            </a:r>
            <a:endParaRPr lang="th-TH" sz="2800" dirty="0">
              <a:solidFill>
                <a:schemeClr val="tx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5910147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Process Model Vs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192" y="2108128"/>
            <a:ext cx="1102961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thaiDist">
              <a:lnSpc>
                <a:spcPct val="150000"/>
              </a:lnSpc>
            </a:pPr>
            <a:r>
              <a:rPr lang="en-US" sz="3200" b="1" dirty="0">
                <a:solidFill>
                  <a:schemeClr val="accent1"/>
                </a:solidFill>
                <a:latin typeface="Kanit" pitchFamily="2" charset="-34"/>
                <a:cs typeface="Kanit" pitchFamily="2" charset="-34"/>
              </a:rPr>
              <a:t>Process Model</a:t>
            </a:r>
          </a:p>
          <a:p>
            <a:pPr marL="571500" lvl="1" indent="-571500" algn="thaiDist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เป็นแบบจำลองกระบวนการหรือแผนภาพกระแสข้อมูล เพื่อแสดงถึงขั้นตอน</a:t>
            </a:r>
            <a:br>
              <a:rPr lang="th-TH" sz="2400" dirty="0">
                <a:latin typeface="Kanit" pitchFamily="2" charset="-34"/>
                <a:cs typeface="Kanit" pitchFamily="2" charset="-34"/>
              </a:rPr>
            </a:br>
            <a:r>
              <a:rPr lang="th-TH" sz="2400" dirty="0">
                <a:latin typeface="Kanit" pitchFamily="2" charset="-34"/>
                <a:cs typeface="Kanit" pitchFamily="2" charset="-34"/>
              </a:rPr>
              <a:t>การปฎิบัติงานทางธุรกิจ </a:t>
            </a:r>
          </a:p>
          <a:p>
            <a:pPr marL="571500" lvl="1" indent="-571500" algn="thaiDist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มีข้อมูลอะไรบ้างที่ไหลผ่านกระบวนการ</a:t>
            </a:r>
            <a:endParaRPr lang="en-US" dirty="0">
              <a:latin typeface="Kanit" pitchFamily="2" charset="-34"/>
              <a:cs typeface="Kanit" pitchFamily="2" charset="-34"/>
            </a:endParaRPr>
          </a:p>
          <a:p>
            <a:pPr marL="0" lvl="1" algn="thaiDist"/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192" y="4508156"/>
            <a:ext cx="110296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thaiDist">
              <a:lnSpc>
                <a:spcPct val="150000"/>
              </a:lnSpc>
            </a:pPr>
            <a:r>
              <a:rPr lang="en-US" sz="3200" b="1" dirty="0">
                <a:solidFill>
                  <a:schemeClr val="accent1"/>
                </a:solidFill>
                <a:latin typeface="Kanit" pitchFamily="2" charset="-34"/>
                <a:cs typeface="Kanit" pitchFamily="2" charset="-34"/>
              </a:rPr>
              <a:t>Data Models</a:t>
            </a:r>
          </a:p>
          <a:p>
            <a:pPr marL="571500" lvl="1" indent="-571500" algn="thaiDist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แบบจำลองข้อมูล</a:t>
            </a:r>
          </a:p>
          <a:p>
            <a:pPr marL="571500" lvl="1" indent="-571500" algn="thaiDist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ใช้อธิบายโครงสร้างความสัมพันธ์ของข้อมูล ว่าข้อมูลนั้นมีความสัมพันธ์กันอย่างไร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441114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Example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19836" y="6174647"/>
            <a:ext cx="2952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Kanit" pitchFamily="2" charset="-34"/>
                <a:cs typeface="Kanit" pitchFamily="2" charset="-34"/>
              </a:rPr>
              <a:t>Process Model</a:t>
            </a:r>
          </a:p>
        </p:txBody>
      </p:sp>
      <p:pic>
        <p:nvPicPr>
          <p:cNvPr id="5" name="Picture 2" descr="https://scontent.fbkk3-1.fna.fbcdn.net/v/t1.15752-9/39091721_271984516949255_7935421734033817600_n.jpg?_nc_cat=0&amp;_nc_eui2=AeETOtGymBRssfBXgNZ8VoUqECOmgxdYR5A4pbyQ_f2LFOWbvzSSjizIAFitfMte5826AK3eMpYMku_fHMhw8qll6ZJoKU0DthnnLciIIbSQqQ&amp;oh=8698931b39d73270eff49e0f229db3f7&amp;oe=5BFB98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574" y="1985557"/>
            <a:ext cx="9264852" cy="418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456041" y="3301751"/>
            <a:ext cx="1368152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71501" y="4653315"/>
            <a:ext cx="1368152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365163" y="5113073"/>
            <a:ext cx="1584176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19778" y="5630984"/>
            <a:ext cx="1562650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68291" y="5603274"/>
            <a:ext cx="1368152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45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49715" y="6112668"/>
            <a:ext cx="2952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Kanit" pitchFamily="2" charset="-34"/>
                <a:cs typeface="Kanit" pitchFamily="2" charset="-34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9946" y="1050268"/>
            <a:ext cx="5010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Concept 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2437447" y="1990728"/>
            <a:ext cx="1728192" cy="79208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/>
          <p:cNvSpPr/>
          <p:nvPr/>
        </p:nvSpPr>
        <p:spPr>
          <a:xfrm>
            <a:off x="5317767" y="1905713"/>
            <a:ext cx="1872208" cy="96211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31325" y="1990728"/>
            <a:ext cx="1728192" cy="79208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>
            <a:stCxn id="5" idx="3"/>
            <a:endCxn id="6" idx="1"/>
          </p:cNvCxnSpPr>
          <p:nvPr/>
        </p:nvCxnSpPr>
        <p:spPr>
          <a:xfrm>
            <a:off x="4165639" y="2386772"/>
            <a:ext cx="115212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3"/>
            <a:endCxn id="7" idx="1"/>
          </p:cNvCxnSpPr>
          <p:nvPr/>
        </p:nvCxnSpPr>
        <p:spPr>
          <a:xfrm>
            <a:off x="7189975" y="2386772"/>
            <a:ext cx="11413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2365439" y="3559906"/>
            <a:ext cx="1872208" cy="96211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65439" y="5074065"/>
            <a:ext cx="1728192" cy="79208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89775" y="3633905"/>
            <a:ext cx="1728192" cy="79208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>
            <a:stCxn id="5" idx="2"/>
            <a:endCxn id="10" idx="0"/>
          </p:cNvCxnSpPr>
          <p:nvPr/>
        </p:nvCxnSpPr>
        <p:spPr>
          <a:xfrm>
            <a:off x="3301543" y="2782816"/>
            <a:ext cx="0" cy="7770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0" idx="2"/>
          </p:cNvCxnSpPr>
          <p:nvPr/>
        </p:nvCxnSpPr>
        <p:spPr>
          <a:xfrm>
            <a:off x="3301543" y="4522024"/>
            <a:ext cx="0" cy="5520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3"/>
            <a:endCxn id="12" idx="1"/>
          </p:cNvCxnSpPr>
          <p:nvPr/>
        </p:nvCxnSpPr>
        <p:spPr>
          <a:xfrm flipV="1">
            <a:off x="4237647" y="4029949"/>
            <a:ext cx="1152128" cy="110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2"/>
            <a:endCxn id="12" idx="0"/>
          </p:cNvCxnSpPr>
          <p:nvPr/>
        </p:nvCxnSpPr>
        <p:spPr>
          <a:xfrm>
            <a:off x="6253871" y="2867831"/>
            <a:ext cx="0" cy="7660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5389775" y="4972090"/>
            <a:ext cx="1872208" cy="96211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>
            <a:stCxn id="11" idx="3"/>
            <a:endCxn id="17" idx="1"/>
          </p:cNvCxnSpPr>
          <p:nvPr/>
        </p:nvCxnSpPr>
        <p:spPr>
          <a:xfrm flipV="1">
            <a:off x="4093631" y="5453149"/>
            <a:ext cx="1296144" cy="16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331325" y="5057105"/>
            <a:ext cx="1728192" cy="79208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>
            <a:endCxn id="23" idx="1"/>
          </p:cNvCxnSpPr>
          <p:nvPr/>
        </p:nvCxnSpPr>
        <p:spPr>
          <a:xfrm>
            <a:off x="7189975" y="5453149"/>
            <a:ext cx="11413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666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87438" y="980223"/>
            <a:ext cx="6104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Logical Database Design</a:t>
            </a:r>
          </a:p>
        </p:txBody>
      </p:sp>
      <p:pic>
        <p:nvPicPr>
          <p:cNvPr id="3" name="Picture 2" descr="à¸£à¸¹à¸à¸ à¸²à¸à¸à¸µà¹à¹à¸à¸µà¹à¸¢à¸§à¸à¹à¸­à¸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47" y="1786672"/>
            <a:ext cx="8736707" cy="255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818501"/>
              </p:ext>
            </p:extLst>
          </p:nvPr>
        </p:nvGraphicFramePr>
        <p:xfrm>
          <a:off x="1727647" y="4714848"/>
          <a:ext cx="4562316" cy="158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0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6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8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055765"/>
              </p:ext>
            </p:extLst>
          </p:nvPr>
        </p:nvGraphicFramePr>
        <p:xfrm>
          <a:off x="6830290" y="4714848"/>
          <a:ext cx="3422073" cy="158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6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8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31040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111" y="977165"/>
            <a:ext cx="5439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Physical Database Design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73" y="1569192"/>
            <a:ext cx="9000255" cy="29231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334395"/>
              </p:ext>
            </p:extLst>
          </p:nvPr>
        </p:nvGraphicFramePr>
        <p:xfrm>
          <a:off x="4966761" y="4492352"/>
          <a:ext cx="5009160" cy="205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1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1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817586"/>
              </p:ext>
            </p:extLst>
          </p:nvPr>
        </p:nvGraphicFramePr>
        <p:xfrm>
          <a:off x="2078182" y="4492352"/>
          <a:ext cx="1454665" cy="205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4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512096" y="4755591"/>
            <a:ext cx="1440160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512096" y="4755591"/>
            <a:ext cx="1440160" cy="54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3512096" y="5295651"/>
            <a:ext cx="1440160" cy="1044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88137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Entity Relationship Diagram (ERD)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81192" y="1872710"/>
            <a:ext cx="11029616" cy="4801736"/>
          </a:xfrm>
        </p:spPr>
        <p:txBody>
          <a:bodyPr>
            <a:noAutofit/>
          </a:bodyPr>
          <a:lstStyle/>
          <a:p>
            <a:pPr algn="thaiDist" eaLnBrk="1" hangingPunct="1">
              <a:lnSpc>
                <a:spcPct val="150000"/>
              </a:lnSpc>
              <a:defRPr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เป็นแผนภาพที่ทำหน้าที่</a:t>
            </a:r>
            <a:r>
              <a:rPr lang="th-TH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จำลองข้อมูลที่มีความสัมพันธ์กัน</a:t>
            </a:r>
          </a:p>
          <a:p>
            <a:pPr algn="thaiDist" eaLnBrk="1" hangingPunct="1">
              <a:lnSpc>
                <a:spcPct val="150000"/>
              </a:lnSpc>
              <a:defRPr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เป็นการออกแบบฐานข้อมูลในระดับ </a:t>
            </a:r>
            <a:r>
              <a:rPr lang="en-US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Conceptual</a:t>
            </a:r>
          </a:p>
          <a:p>
            <a:pPr algn="thaiDist" eaLnBrk="1" hangingPunct="1">
              <a:lnSpc>
                <a:spcPct val="150000"/>
              </a:lnSpc>
              <a:defRPr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เป็นแบบจำลองข้อมูลที่แสดงถึงโครงสร้างฐานข้อมูลที่เป็นอิสระจาก </a:t>
            </a:r>
            <a:r>
              <a:rPr lang="en-US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Software </a:t>
            </a: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ที่จะใช้พัฒนาฐานข้อมูล (ไม่ขึ้นกับ </a:t>
            </a:r>
            <a:r>
              <a:rPr lang="en-US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Software)</a:t>
            </a:r>
            <a:endParaRPr lang="th-TH" sz="28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algn="thaiDist" eaLnBrk="1" hangingPunct="1">
              <a:lnSpc>
                <a:spcPct val="150000"/>
              </a:lnSpc>
              <a:defRPr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ทำให้บุคลากรเข้าใจในระบบฐานข้อมูลได้ง่าย</a:t>
            </a:r>
            <a:endParaRPr lang="en-US" sz="28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1618318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Entity Relationship Diagram (ERD)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75854" y="1886566"/>
            <a:ext cx="10834954" cy="48017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ERD </a:t>
            </a: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มีหลายรูปแบบ และไม่มีมาตรฐานตายตัว</a:t>
            </a:r>
          </a:p>
          <a:p>
            <a:pPr>
              <a:lnSpc>
                <a:spcPct val="150000"/>
              </a:lnSpc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แต่มีหลักการหรือส่วนประกอบเท่านั้น ที่คล้ายคลึงกัน กล่าวคือ </a:t>
            </a:r>
          </a:p>
          <a:p>
            <a:pPr>
              <a:lnSpc>
                <a:spcPct val="150000"/>
              </a:lnSpc>
            </a:pPr>
            <a:r>
              <a:rPr lang="th-TH" sz="2800" dirty="0">
                <a:solidFill>
                  <a:schemeClr val="tx1"/>
                </a:solidFill>
                <a:effectLst/>
                <a:latin typeface="Kanit" pitchFamily="2" charset="-34"/>
                <a:cs typeface="Kanit" pitchFamily="2" charset="-34"/>
              </a:rPr>
              <a:t>มีองค์ประกอบที่ประกอบด้วยโครงสร้าง ดังนี้</a:t>
            </a:r>
          </a:p>
          <a:p>
            <a:pPr lvl="2">
              <a:lnSpc>
                <a:spcPct val="150000"/>
              </a:lnSpc>
              <a:buClrTx/>
              <a:buFont typeface="Wingdings" pitchFamily="2" charset="2"/>
              <a:buChar char="v"/>
              <a:defRPr/>
            </a:pPr>
            <a:r>
              <a:rPr lang="en-US" sz="2800" dirty="0">
                <a:solidFill>
                  <a:srgbClr val="FF0000"/>
                </a:solidFill>
                <a:effectLst/>
                <a:latin typeface="Kanit" pitchFamily="2" charset="-34"/>
                <a:cs typeface="Kanit" pitchFamily="2" charset="-34"/>
              </a:rPr>
              <a:t> Entity</a:t>
            </a:r>
          </a:p>
          <a:p>
            <a:pPr lvl="2">
              <a:lnSpc>
                <a:spcPct val="150000"/>
              </a:lnSpc>
              <a:buClrTx/>
              <a:buFont typeface="Wingdings" pitchFamily="2" charset="2"/>
              <a:buChar char="v"/>
              <a:defRPr/>
            </a:pPr>
            <a:r>
              <a:rPr lang="en-US" sz="2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 Attribute</a:t>
            </a:r>
            <a:endParaRPr lang="en-US" sz="2800" dirty="0">
              <a:solidFill>
                <a:srgbClr val="FF0000"/>
              </a:solidFill>
              <a:effectLst/>
              <a:latin typeface="Kanit" pitchFamily="2" charset="-34"/>
              <a:cs typeface="Kanit" pitchFamily="2" charset="-34"/>
            </a:endParaRPr>
          </a:p>
          <a:p>
            <a:pPr lvl="2">
              <a:lnSpc>
                <a:spcPct val="150000"/>
              </a:lnSpc>
              <a:buClrTx/>
              <a:buFont typeface="Wingdings" pitchFamily="2" charset="2"/>
              <a:buChar char="v"/>
              <a:defRPr/>
            </a:pPr>
            <a:r>
              <a:rPr lang="en-US" sz="2800" dirty="0">
                <a:solidFill>
                  <a:srgbClr val="FF0000"/>
                </a:solidFill>
                <a:effectLst/>
                <a:latin typeface="Kanit" pitchFamily="2" charset="-34"/>
                <a:cs typeface="Kanit" pitchFamily="2" charset="-34"/>
              </a:rPr>
              <a:t> Relationship</a:t>
            </a:r>
          </a:p>
        </p:txBody>
      </p:sp>
    </p:spTree>
    <p:extLst>
      <p:ext uri="{BB962C8B-B14F-4D97-AF65-F5344CB8AC3E}">
        <p14:creationId xmlns:p14="http://schemas.microsoft.com/office/powerpoint/2010/main" val="261837080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 err="1">
                <a:latin typeface="Kanit" pitchFamily="2" charset="-34"/>
                <a:cs typeface="Kanit" pitchFamily="2" charset="-34"/>
              </a:rPr>
              <a:t>Entitys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81192" y="1357299"/>
            <a:ext cx="11264444" cy="4794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b="1" dirty="0" err="1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เอ</a:t>
            </a:r>
            <a:r>
              <a:rPr lang="th-TH" sz="2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็นทิตี้</a:t>
            </a:r>
            <a:r>
              <a:rPr lang="en-US" sz="2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(</a:t>
            </a:r>
            <a:r>
              <a:rPr lang="en-US" sz="2800" b="1" dirty="0" err="1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Entitys</a:t>
            </a:r>
            <a:r>
              <a:rPr lang="en-US" sz="2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)</a:t>
            </a:r>
            <a:r>
              <a:rPr lang="th-TH" sz="2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</a:t>
            </a:r>
          </a:p>
          <a:p>
            <a:pPr marL="0" indent="0">
              <a:buNone/>
              <a:defRPr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เป็นส่วนที่ใช้สำหรับเก็บข้อมูลแต่ละรายการภายในระบบที่เรากำลังจัดทำอยู่</a:t>
            </a:r>
          </a:p>
          <a:p>
            <a:pPr>
              <a:defRPr/>
            </a:pPr>
            <a:endParaRPr lang="th-TH" sz="14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r>
              <a:rPr lang="th-TH" sz="2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สัญลักษณ์ของเอ็นทิตี้ใน </a:t>
            </a:r>
            <a:r>
              <a:rPr lang="en-US" sz="2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ERD</a:t>
            </a:r>
            <a:r>
              <a:rPr lang="th-TH" sz="2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</a:t>
            </a:r>
            <a:endParaRPr lang="en-US" sz="28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marL="0" indent="0">
              <a:buNone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ใช้รูปสี่เหลี่ยมผืนผ้า และมีชื่อกำกับภายใน เป็นคำนาม มักเขียนด้วยตัวพิมพ์ใหญ่</a:t>
            </a:r>
            <a:endParaRPr lang="en-US" sz="28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11635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 err="1">
                <a:latin typeface="Kanit" pitchFamily="2" charset="-34"/>
                <a:cs typeface="Kanit" pitchFamily="2" charset="-34"/>
              </a:rPr>
              <a:t>Entitys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81192" y="1681533"/>
            <a:ext cx="8274496" cy="156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เอ็นทิตี้ แบ่งออกเป็น 2 ประเภทด้วยกัน</a:t>
            </a:r>
            <a:endParaRPr lang="en-US" sz="28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716573" y="3532907"/>
            <a:ext cx="2549236" cy="972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none" w="lg" len="lg"/>
          </a:ln>
        </p:spPr>
        <p:txBody>
          <a:bodyPr wrap="square" anchor="ctr">
            <a:spAutoFit/>
          </a:bodyPr>
          <a:lstStyle/>
          <a:p>
            <a:pPr algn="ctr" eaLnBrk="0" hangingPunct="0"/>
            <a:endParaRPr lang="th-TH" sz="1000" b="1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  <a:p>
            <a:pPr algn="ctr" eaLnBrk="0" hangingPunct="0"/>
            <a:r>
              <a:rPr lang="th-TH" sz="2400" b="1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พนักงาน</a:t>
            </a:r>
          </a:p>
          <a:p>
            <a:pPr algn="ctr" eaLnBrk="0" hangingPunct="0"/>
            <a:endParaRPr lang="th-TH" sz="1000" b="1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788728" y="3532907"/>
            <a:ext cx="2613036" cy="988253"/>
            <a:chOff x="5893672" y="3285727"/>
            <a:chExt cx="1697181" cy="575524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001655" y="3354008"/>
              <a:ext cx="1457774" cy="4480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none" w="lg" len="lg"/>
            </a:ln>
          </p:spPr>
          <p:txBody>
            <a:bodyPr wrap="square">
              <a:spAutoFit/>
            </a:bodyPr>
            <a:lstStyle/>
            <a:p>
              <a:pPr algn="ctr" eaLnBrk="0" hangingPunct="0"/>
              <a:endParaRPr lang="th-TH" sz="1000" b="1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endParaRPr>
            </a:p>
            <a:p>
              <a:pPr algn="ctr" eaLnBrk="0" hangingPunct="0"/>
              <a:r>
                <a:rPr lang="th-TH" sz="2400" b="1" dirty="0">
                  <a:solidFill>
                    <a:srgbClr val="000000"/>
                  </a:solidFill>
                  <a:latin typeface="Kanit" pitchFamily="2" charset="-34"/>
                  <a:cs typeface="Kanit" pitchFamily="2" charset="-34"/>
                </a:rPr>
                <a:t>ญาติ</a:t>
              </a:r>
            </a:p>
            <a:p>
              <a:pPr algn="ctr" eaLnBrk="0" hangingPunct="0"/>
              <a:endParaRPr lang="th-TH" sz="1000" b="1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893672" y="3285727"/>
              <a:ext cx="1697181" cy="57552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sz="2000"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362550" y="4964446"/>
            <a:ext cx="3257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Kanit" pitchFamily="2" charset="-34"/>
                <a:cs typeface="Kanit" pitchFamily="2" charset="-34"/>
              </a:rPr>
              <a:t>Strong Entity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7692" y="4964446"/>
            <a:ext cx="3087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Kanit" pitchFamily="2" charset="-34"/>
                <a:cs typeface="Kanit" pitchFamily="2" charset="-34"/>
              </a:rPr>
              <a:t>Weak Entity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435001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 err="1">
                <a:latin typeface="Kanit" pitchFamily="2" charset="-34"/>
                <a:cs typeface="Kanit" pitchFamily="2" charset="-34"/>
              </a:rPr>
              <a:t>Entitys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27559" y="1820028"/>
            <a:ext cx="8274496" cy="4691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th-TH" sz="2400" b="1" dirty="0">
                <a:solidFill>
                  <a:srgbClr val="002060"/>
                </a:solidFill>
                <a:latin typeface="Kanit" pitchFamily="2" charset="-34"/>
                <a:cs typeface="Kanit" pitchFamily="2" charset="-34"/>
              </a:rPr>
              <a:t>ตัวอย่าง เอ็นทิตี้ </a:t>
            </a:r>
            <a:endParaRPr lang="en-US" sz="2400" b="1" dirty="0">
              <a:solidFill>
                <a:srgbClr val="002060"/>
              </a:solidFill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บุคคล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: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พนักงาน นักศึกษา ลูกค้า ผู้ป่วย</a:t>
            </a:r>
            <a:endParaRPr lang="en-US" sz="24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สถานที่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: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ร้านค้า คลังสินค้า สถานี สาขา ห้อง</a:t>
            </a:r>
            <a:endParaRPr lang="en-US" sz="24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วัตถุ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	: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เครื่องจักร อาคาร เครื่องยนต์ สินค้า</a:t>
            </a:r>
            <a:endParaRPr lang="en-US" sz="24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เหตุการณ์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: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การขาย การลงทะเบียน การสั่งซื้อ การแจ้งซ่อม</a:t>
            </a:r>
            <a:endParaRPr lang="en-US" sz="24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แนวคิด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: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บัญชี หลักสูตร ศูนย์การทำงาน</a:t>
            </a:r>
            <a:endParaRPr lang="en-US" sz="24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2113888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Attributes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81192" y="1965343"/>
            <a:ext cx="11029616" cy="4608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เป็นคุณสมบัติหรือลักษณะของ 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Entity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ที่เกี่ยวข้องกับกิจกรรม หรือมันคือสิ่งที่เราสนใจจะเก็บในฐานข้อมูล</a:t>
            </a:r>
          </a:p>
          <a:p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ตัวอย่าง 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Attributes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ของ พนักงาน ประกอบด้วย</a:t>
            </a:r>
          </a:p>
          <a:p>
            <a:pPr lvl="2"/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รหัสพนักงาน</a:t>
            </a:r>
          </a:p>
          <a:p>
            <a:pPr lvl="2"/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ชื่อ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-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นามสกุล</a:t>
            </a:r>
          </a:p>
          <a:p>
            <a:pPr lvl="2"/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เพศ</a:t>
            </a:r>
          </a:p>
          <a:p>
            <a:pPr lvl="2"/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เงินเดือน</a:t>
            </a:r>
          </a:p>
          <a:p>
            <a:pPr marL="306000" lvl="2" indent="-306000"/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สัญลักษณ์ 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Attributes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นั้นจะแทนด้วยวงรี 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โดยมีชื่อของ 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Attributes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กำกับอยู่ภายใน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และมีเส้นเชื่อมต่อกับ 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Entity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ของมัน</a:t>
            </a:r>
          </a:p>
        </p:txBody>
      </p:sp>
    </p:spTree>
    <p:extLst>
      <p:ext uri="{BB962C8B-B14F-4D97-AF65-F5344CB8AC3E}">
        <p14:creationId xmlns:p14="http://schemas.microsoft.com/office/powerpoint/2010/main" val="35047408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Attributes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79730" y="4319694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endParaRPr lang="th-TH" sz="36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Oval 5"/>
          <p:cNvSpPr/>
          <p:nvPr/>
        </p:nvSpPr>
        <p:spPr>
          <a:xfrm>
            <a:off x="4063606" y="2177518"/>
            <a:ext cx="1656184" cy="9361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endParaRPr lang="th-TH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35814" y="2177518"/>
            <a:ext cx="1656184" cy="9361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endParaRPr lang="th-TH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Oval 7"/>
          <p:cNvSpPr/>
          <p:nvPr/>
        </p:nvSpPr>
        <p:spPr>
          <a:xfrm>
            <a:off x="2442918" y="3131562"/>
            <a:ext cx="1656184" cy="9361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endParaRPr lang="th-TH" sz="24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Oval 8"/>
          <p:cNvSpPr/>
          <p:nvPr/>
        </p:nvSpPr>
        <p:spPr>
          <a:xfrm>
            <a:off x="7771510" y="3203570"/>
            <a:ext cx="1656184" cy="9361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endParaRPr lang="th-TH" sz="20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0" name="Straight Connector 9"/>
          <p:cNvCxnSpPr>
            <a:stCxn id="8" idx="6"/>
          </p:cNvCxnSpPr>
          <p:nvPr/>
        </p:nvCxnSpPr>
        <p:spPr>
          <a:xfrm>
            <a:off x="4099102" y="3599614"/>
            <a:ext cx="1332656" cy="7380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6" idx="4"/>
            <a:endCxn id="4" idx="0"/>
          </p:cNvCxnSpPr>
          <p:nvPr/>
        </p:nvCxnSpPr>
        <p:spPr>
          <a:xfrm>
            <a:off x="4891698" y="3113622"/>
            <a:ext cx="1080120" cy="1206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7" idx="4"/>
          </p:cNvCxnSpPr>
          <p:nvPr/>
        </p:nvCxnSpPr>
        <p:spPr>
          <a:xfrm flipH="1">
            <a:off x="6259342" y="3113622"/>
            <a:ext cx="504564" cy="1206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9" idx="2"/>
          </p:cNvCxnSpPr>
          <p:nvPr/>
        </p:nvCxnSpPr>
        <p:spPr>
          <a:xfrm flipH="1">
            <a:off x="6547882" y="3671622"/>
            <a:ext cx="1223628" cy="648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61309" y="5565884"/>
            <a:ext cx="84440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Kanit" pitchFamily="2" charset="-34"/>
                <a:cs typeface="Kanit" pitchFamily="2" charset="-34"/>
              </a:rPr>
              <a:t>แอตทริบิวต์ใดถูกใช้เป็น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Primary Key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(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PK)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จะถูกขีดเส้นใต้กำกับไว้</a:t>
            </a:r>
          </a:p>
          <a:p>
            <a:r>
              <a:rPr lang="th-TH" sz="2400" dirty="0">
                <a:latin typeface="Kanit" pitchFamily="2" charset="-34"/>
                <a:cs typeface="Kanit" pitchFamily="2" charset="-34"/>
              </a:rPr>
              <a:t>และถ้าถูกใช้เป็น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Foreign Key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(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FK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) จะมีเครื่องหมาย *</a:t>
            </a:r>
          </a:p>
        </p:txBody>
      </p:sp>
    </p:spTree>
    <p:extLst>
      <p:ext uri="{BB962C8B-B14F-4D97-AF65-F5344CB8AC3E}">
        <p14:creationId xmlns:p14="http://schemas.microsoft.com/office/powerpoint/2010/main" val="19093112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Relationships</a:t>
            </a: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74073" y="1997401"/>
            <a:ext cx="11236735" cy="2880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00100" lvl="1" indent="-342900" algn="l"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Kanit" pitchFamily="2" charset="-34"/>
                <a:cs typeface="Kanit" pitchFamily="2" charset="-34"/>
              </a:rPr>
              <a:t>Entity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ที่แสดงความสัมพันธ์ระหว่าง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 2 Entity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ขึ้นไป </a:t>
            </a:r>
          </a:p>
          <a:p>
            <a:pPr marL="800100" lvl="1" indent="-342900" algn="l"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เป็นความสัมพันธ์ระหว่าง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Entity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ที่มี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Attributes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ร่วมกัน </a:t>
            </a:r>
          </a:p>
          <a:p>
            <a:pPr marL="800100" lvl="1" indent="-342900" algn="l"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โดยแต่ละความสัมพันธ์จะถูกระบุด้วยสัญลักษณ์สี่เหลี่ยมข้าวหลามตัด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(Diamond)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และคำที่อธิบายถึงความสัมพันธ์นั้น ๆ </a:t>
            </a:r>
            <a:endParaRPr lang="en-US" sz="2400" dirty="0">
              <a:latin typeface="Kanit" pitchFamily="2" charset="-34"/>
              <a:cs typeface="Kanit" pitchFamily="2" charset="-34"/>
            </a:endParaRPr>
          </a:p>
          <a:p>
            <a:pPr marL="800100" lvl="1" indent="-342900" algn="l"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พร้อมทั้งระบุชนิดของความสัมพันธ์ระหว่าง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Entity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นั้น ๆ ด้วย</a:t>
            </a:r>
            <a:endParaRPr lang="en-US" sz="2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06719" y="5411195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อาจารย์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1335" y="5411195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รายวิชา</a:t>
            </a:r>
          </a:p>
        </p:txBody>
      </p:sp>
      <p:sp>
        <p:nvSpPr>
          <p:cNvPr id="18" name="Flowchart: Decision 17"/>
          <p:cNvSpPr/>
          <p:nvPr/>
        </p:nvSpPr>
        <p:spPr>
          <a:xfrm>
            <a:off x="5279312" y="5159167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latin typeface="Kanit" pitchFamily="2" charset="-34"/>
                <a:cs typeface="Kanit" pitchFamily="2" charset="-34"/>
              </a:rPr>
              <a:t>สอน</a:t>
            </a:r>
          </a:p>
        </p:txBody>
      </p:sp>
      <p:cxnSp>
        <p:nvCxnSpPr>
          <p:cNvPr id="19" name="Straight Connector 18"/>
          <p:cNvCxnSpPr>
            <a:stCxn id="16" idx="3"/>
            <a:endCxn id="18" idx="1"/>
          </p:cNvCxnSpPr>
          <p:nvPr/>
        </p:nvCxnSpPr>
        <p:spPr>
          <a:xfrm>
            <a:off x="4090895" y="5807239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8" idx="3"/>
            <a:endCxn id="17" idx="1"/>
          </p:cNvCxnSpPr>
          <p:nvPr/>
        </p:nvCxnSpPr>
        <p:spPr>
          <a:xfrm>
            <a:off x="7007504" y="5807239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4654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Relationships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81192" y="2144154"/>
            <a:ext cx="10872382" cy="3092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th-TH" sz="3200" b="1" dirty="0">
                <a:latin typeface="Kanit" pitchFamily="2" charset="-34"/>
                <a:cs typeface="Kanit" pitchFamily="2" charset="-34"/>
              </a:rPr>
              <a:t>ประเภทของความสัมพันธ์ </a:t>
            </a:r>
            <a:r>
              <a:rPr lang="en-US" sz="3200" b="1" dirty="0">
                <a:latin typeface="Kanit" pitchFamily="2" charset="-34"/>
                <a:cs typeface="Kanit" pitchFamily="2" charset="-34"/>
              </a:rPr>
              <a:t> </a:t>
            </a:r>
            <a:r>
              <a:rPr lang="th-TH" sz="3200" b="1" dirty="0">
                <a:latin typeface="Kanit" pitchFamily="2" charset="-34"/>
                <a:cs typeface="Kanit" pitchFamily="2" charset="-34"/>
              </a:rPr>
              <a:t>แบ่งได้เป็น</a:t>
            </a:r>
            <a:r>
              <a:rPr lang="en-US" sz="3200" b="1" dirty="0">
                <a:latin typeface="Kanit" pitchFamily="2" charset="-34"/>
                <a:cs typeface="Kanit" pitchFamily="2" charset="-34"/>
              </a:rPr>
              <a:t> 3 </a:t>
            </a:r>
            <a:r>
              <a:rPr lang="th-TH" sz="3200" b="1" dirty="0">
                <a:latin typeface="Kanit" pitchFamily="2" charset="-34"/>
                <a:cs typeface="Kanit" pitchFamily="2" charset="-34"/>
              </a:rPr>
              <a:t>ประเภท</a:t>
            </a:r>
            <a:r>
              <a:rPr lang="en-US" sz="3200" b="1" dirty="0">
                <a:latin typeface="Kanit" pitchFamily="2" charset="-34"/>
                <a:cs typeface="Kanit" pitchFamily="2" charset="-34"/>
              </a:rPr>
              <a:t> </a:t>
            </a:r>
            <a:r>
              <a:rPr lang="th-TH" sz="3200" b="1" dirty="0">
                <a:latin typeface="Kanit" pitchFamily="2" charset="-34"/>
                <a:cs typeface="Kanit" pitchFamily="2" charset="-34"/>
              </a:rPr>
              <a:t>คือ</a:t>
            </a:r>
          </a:p>
          <a:p>
            <a:pPr marL="1028700" lvl="1" indent="-5715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Kanit" pitchFamily="2" charset="-34"/>
                <a:cs typeface="Kanit" pitchFamily="2" charset="-34"/>
              </a:rPr>
              <a:t>One-to-One Relationship (1:1)</a:t>
            </a:r>
          </a:p>
          <a:p>
            <a:pPr marL="1028700" lvl="1" indent="-5715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Kanit" pitchFamily="2" charset="-34"/>
                <a:cs typeface="Kanit" pitchFamily="2" charset="-34"/>
              </a:rPr>
              <a:t>One-to-Many Relationship (1:M)</a:t>
            </a:r>
          </a:p>
          <a:p>
            <a:pPr marL="1028700" lvl="1" indent="-5715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Kanit" pitchFamily="2" charset="-34"/>
                <a:cs typeface="Kanit" pitchFamily="2" charset="-34"/>
              </a:rPr>
              <a:t>Many-to-Many Relationship (M:N)</a:t>
            </a:r>
          </a:p>
        </p:txBody>
      </p:sp>
    </p:spTree>
    <p:extLst>
      <p:ext uri="{BB962C8B-B14F-4D97-AF65-F5344CB8AC3E}">
        <p14:creationId xmlns:p14="http://schemas.microsoft.com/office/powerpoint/2010/main" val="81941937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26199" y="701365"/>
            <a:ext cx="792961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4400" b="1" i="1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One-to-one Relationship</a:t>
            </a:r>
            <a:endParaRPr lang="th-TH" sz="4400" b="1" i="1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65018" y="1915811"/>
            <a:ext cx="10875818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thaiDist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th-TH" dirty="0">
                <a:latin typeface="Kanit" pitchFamily="2" charset="-34"/>
                <a:cs typeface="Kanit" pitchFamily="2" charset="-34"/>
              </a:rPr>
              <a:t>	ความสัมพันธ์ที่ค่าข้อมูลจริงของเอ็นทิตี้หนึ่งสัมพันธ์กับค่าข้อมูลจริงของอีกเอ็นทิตี้หนึ่งเพียงค่าเดียวเท่านั้น</a:t>
            </a: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Kanit" pitchFamily="2" charset="-34"/>
              <a:cs typeface="Kanit" pitchFamily="2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Kanit" pitchFamily="2" charset="-34"/>
              <a:cs typeface="Kanit" pitchFamily="2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98335" y="3592609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อาจารย์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2951" y="3592609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วิทยาลัย</a:t>
            </a:r>
          </a:p>
        </p:txBody>
      </p:sp>
      <p:sp>
        <p:nvSpPr>
          <p:cNvPr id="6" name="Flowchart: Decision 5"/>
          <p:cNvSpPr/>
          <p:nvPr/>
        </p:nvSpPr>
        <p:spPr>
          <a:xfrm>
            <a:off x="5270928" y="3340581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เป็นผู้อำนวยการ</a:t>
            </a:r>
          </a:p>
        </p:txBody>
      </p:sp>
      <p:cxnSp>
        <p:nvCxnSpPr>
          <p:cNvPr id="7" name="Straight Connector 6"/>
          <p:cNvCxnSpPr>
            <a:stCxn id="4" idx="3"/>
            <a:endCxn id="6" idx="1"/>
          </p:cNvCxnSpPr>
          <p:nvPr/>
        </p:nvCxnSpPr>
        <p:spPr>
          <a:xfrm>
            <a:off x="4082511" y="3988653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3"/>
            <a:endCxn id="5" idx="1"/>
          </p:cNvCxnSpPr>
          <p:nvPr/>
        </p:nvCxnSpPr>
        <p:spPr>
          <a:xfrm>
            <a:off x="6999120" y="3988653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54519" y="355660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dirty="0">
                <a:latin typeface="Kanit" pitchFamily="2" charset="-34"/>
                <a:cs typeface="Kanit" pitchFamily="2" charset="-34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2911" y="352698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dirty="0">
                <a:latin typeface="Kanit" pitchFamily="2" charset="-34"/>
                <a:cs typeface="Kanit" pitchFamily="2" charset="-34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5109" y="5896657"/>
            <a:ext cx="78695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u="sng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วิทยาลัยมีอาจารย์ที่เป็นผู้อำนวยการได้เพียง 1 คน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0567" y="5233176"/>
            <a:ext cx="8118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dirty="0">
                <a:latin typeface="Kanit" pitchFamily="2" charset="-34"/>
                <a:cs typeface="Kanit" pitchFamily="2" charset="-34"/>
              </a:rPr>
              <a:t>อาจารย์</a:t>
            </a:r>
            <a:r>
              <a:rPr lang="th-TH" sz="2400" u="sng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คน เป็นผู้อำนวยการได้เพียง 1 วิทยาลัย </a:t>
            </a:r>
          </a:p>
        </p:txBody>
      </p:sp>
    </p:spTree>
    <p:extLst>
      <p:ext uri="{BB962C8B-B14F-4D97-AF65-F5344CB8AC3E}">
        <p14:creationId xmlns:p14="http://schemas.microsoft.com/office/powerpoint/2010/main" val="37278242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131192" y="729074"/>
            <a:ext cx="792961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4400" b="1" i="1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One-to-many Relationship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23455" y="1943520"/>
            <a:ext cx="10931236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th-TH" dirty="0">
                <a:latin typeface="Kanit" pitchFamily="2" charset="-34"/>
                <a:cs typeface="Kanit" pitchFamily="2" charset="-34"/>
              </a:rPr>
              <a:t>	ความสัมพันธ์ของข้อมูล 2 ตัว ที่มีลักษณะ 1 ต่อ </a:t>
            </a:r>
            <a:r>
              <a:rPr lang="en-US" dirty="0">
                <a:latin typeface="Kanit" pitchFamily="2" charset="-34"/>
                <a:cs typeface="Kanit" pitchFamily="2" charset="-34"/>
              </a:rPr>
              <a:t>M </a:t>
            </a:r>
            <a:r>
              <a:rPr lang="th-TH" dirty="0">
                <a:latin typeface="Kanit" pitchFamily="2" charset="-34"/>
                <a:cs typeface="Kanit" pitchFamily="2" charset="-34"/>
              </a:rPr>
              <a:t>หรือข้อมูลตัวหนึ่ง 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จะมีความสัมพันธ์กับข้อมูลอีกตัวหนึ่งได้หลายค่า</a:t>
            </a:r>
          </a:p>
          <a:p>
            <a:pPr algn="l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626" y="3620318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สายผลิตภัณฑ์</a:t>
            </a:r>
          </a:p>
        </p:txBody>
      </p:sp>
      <p:sp>
        <p:nvSpPr>
          <p:cNvPr id="5" name="Rectangle 4"/>
          <p:cNvSpPr/>
          <p:nvPr/>
        </p:nvSpPr>
        <p:spPr>
          <a:xfrm>
            <a:off x="8015242" y="3620318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ผลิตภัณฑ์</a:t>
            </a:r>
          </a:p>
        </p:txBody>
      </p:sp>
      <p:sp>
        <p:nvSpPr>
          <p:cNvPr id="6" name="Flowchart: Decision 5"/>
          <p:cNvSpPr/>
          <p:nvPr/>
        </p:nvSpPr>
        <p:spPr>
          <a:xfrm>
            <a:off x="5243219" y="3368290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มี</a:t>
            </a:r>
            <a:endParaRPr lang="th-TH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7" name="Straight Connector 6"/>
          <p:cNvCxnSpPr>
            <a:stCxn id="4" idx="3"/>
            <a:endCxn id="6" idx="1"/>
          </p:cNvCxnSpPr>
          <p:nvPr/>
        </p:nvCxnSpPr>
        <p:spPr>
          <a:xfrm>
            <a:off x="4054802" y="4016362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3"/>
            <a:endCxn id="5" idx="1"/>
          </p:cNvCxnSpPr>
          <p:nvPr/>
        </p:nvCxnSpPr>
        <p:spPr>
          <a:xfrm>
            <a:off x="6971411" y="4016362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2955" y="365358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dirty="0">
                <a:latin typeface="Kanit" pitchFamily="2" charset="-34"/>
                <a:cs typeface="Kanit" pitchFamily="2" charset="-34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1347" y="36239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M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00568" y="5924366"/>
            <a:ext cx="78695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dirty="0">
                <a:latin typeface="Kanit" pitchFamily="2" charset="-34"/>
                <a:cs typeface="Kanit" pitchFamily="2" charset="-34"/>
              </a:rPr>
              <a:t>แต่ผลิตภัณฑ์</a:t>
            </a:r>
            <a:r>
              <a:rPr lang="th-TH" sz="2400" u="sng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ตัว มีสายผลิตภัณฑ์ได้ 1 สาย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5873" y="5260885"/>
            <a:ext cx="8118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dirty="0">
                <a:latin typeface="Kanit" pitchFamily="2" charset="-34"/>
                <a:cs typeface="Kanit" pitchFamily="2" charset="-34"/>
              </a:rPr>
              <a:t>สายผลิตภัณฑ์</a:t>
            </a:r>
            <a:r>
              <a:rPr lang="th-TH" sz="2400" u="sng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สาย มีผลิตภัณฑ์ได้หลายตัว</a:t>
            </a:r>
          </a:p>
        </p:txBody>
      </p:sp>
    </p:spTree>
    <p:extLst>
      <p:ext uri="{BB962C8B-B14F-4D97-AF65-F5344CB8AC3E}">
        <p14:creationId xmlns:p14="http://schemas.microsoft.com/office/powerpoint/2010/main" val="26704896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131192" y="770638"/>
            <a:ext cx="792961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4400" b="1" i="1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Many-to-many Relationship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20436" y="1943519"/>
            <a:ext cx="10709564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th-TH" dirty="0">
                <a:latin typeface="Kanit" pitchFamily="2" charset="-34"/>
                <a:cs typeface="Kanit" pitchFamily="2" charset="-34"/>
              </a:rPr>
              <a:t>	ความสัมพันธ์ของข้อมูล 2 ตัว ที่มีลักษณะ </a:t>
            </a:r>
            <a:r>
              <a:rPr lang="en-US" dirty="0">
                <a:latin typeface="Kanit" pitchFamily="2" charset="-34"/>
                <a:cs typeface="Kanit" pitchFamily="2" charset="-34"/>
              </a:rPr>
              <a:t>M </a:t>
            </a:r>
            <a:r>
              <a:rPr lang="th-TH" dirty="0">
                <a:latin typeface="Kanit" pitchFamily="2" charset="-34"/>
                <a:cs typeface="Kanit" pitchFamily="2" charset="-34"/>
              </a:rPr>
              <a:t>ต่อ </a:t>
            </a:r>
            <a:r>
              <a:rPr lang="en-US" dirty="0">
                <a:latin typeface="Kanit" pitchFamily="2" charset="-34"/>
                <a:cs typeface="Kanit" pitchFamily="2" charset="-34"/>
              </a:rPr>
              <a:t>M </a:t>
            </a:r>
            <a:r>
              <a:rPr lang="th-TH" dirty="0">
                <a:latin typeface="Kanit" pitchFamily="2" charset="-34"/>
                <a:cs typeface="Kanit" pitchFamily="2" charset="-34"/>
              </a:rPr>
              <a:t>หรือข้อมูลตัวหนึ่งที่มีหลายค่า จะมีความสัมพันธ์กับข้อมูลอีกตัวหนึ่งได้หลายค่า</a:t>
            </a: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627" y="3908349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นักศึกษา</a:t>
            </a:r>
          </a:p>
        </p:txBody>
      </p:sp>
      <p:sp>
        <p:nvSpPr>
          <p:cNvPr id="5" name="Rectangle 4"/>
          <p:cNvSpPr/>
          <p:nvPr/>
        </p:nvSpPr>
        <p:spPr>
          <a:xfrm>
            <a:off x="8015243" y="3908349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รายวิชา</a:t>
            </a:r>
          </a:p>
        </p:txBody>
      </p:sp>
      <p:sp>
        <p:nvSpPr>
          <p:cNvPr id="6" name="Flowchart: Decision 5"/>
          <p:cNvSpPr/>
          <p:nvPr/>
        </p:nvSpPr>
        <p:spPr>
          <a:xfrm>
            <a:off x="5243220" y="3656321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ลงทะเบียน</a:t>
            </a:r>
          </a:p>
        </p:txBody>
      </p:sp>
      <p:cxnSp>
        <p:nvCxnSpPr>
          <p:cNvPr id="7" name="Straight Connector 6"/>
          <p:cNvCxnSpPr>
            <a:stCxn id="4" idx="3"/>
            <a:endCxn id="6" idx="1"/>
          </p:cNvCxnSpPr>
          <p:nvPr/>
        </p:nvCxnSpPr>
        <p:spPr>
          <a:xfrm>
            <a:off x="4054803" y="4304393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3"/>
            <a:endCxn id="5" idx="1"/>
          </p:cNvCxnSpPr>
          <p:nvPr/>
        </p:nvCxnSpPr>
        <p:spPr>
          <a:xfrm>
            <a:off x="6971412" y="4304393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26811" y="3983185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55203" y="3981276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31192" y="5996580"/>
            <a:ext cx="78695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u="sng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รายวิชา นักศึกษาลงทะเบียนได้หลายคน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36676" y="5348509"/>
            <a:ext cx="8118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dirty="0">
                <a:latin typeface="Kanit" pitchFamily="2" charset="-34"/>
                <a:cs typeface="Kanit" pitchFamily="2" charset="-34"/>
              </a:rPr>
              <a:t>นักศึกษา</a:t>
            </a:r>
            <a:r>
              <a:rPr lang="th-TH" sz="2400" u="sng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คน ลงทะเบียนได้หลายรายวิชา</a:t>
            </a:r>
          </a:p>
        </p:txBody>
      </p:sp>
    </p:spTree>
    <p:extLst>
      <p:ext uri="{BB962C8B-B14F-4D97-AF65-F5344CB8AC3E}">
        <p14:creationId xmlns:p14="http://schemas.microsoft.com/office/powerpoint/2010/main" val="17620900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131192" y="770638"/>
            <a:ext cx="792961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4400" b="1" i="1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Many-to-many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0627" y="3063222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นักศึกษา</a:t>
            </a:r>
          </a:p>
        </p:txBody>
      </p:sp>
      <p:sp>
        <p:nvSpPr>
          <p:cNvPr id="5" name="Rectangle 4"/>
          <p:cNvSpPr/>
          <p:nvPr/>
        </p:nvSpPr>
        <p:spPr>
          <a:xfrm>
            <a:off x="8015243" y="3063222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รายวิชา</a:t>
            </a:r>
          </a:p>
        </p:txBody>
      </p:sp>
      <p:sp>
        <p:nvSpPr>
          <p:cNvPr id="6" name="Flowchart: Decision 5"/>
          <p:cNvSpPr/>
          <p:nvPr/>
        </p:nvSpPr>
        <p:spPr>
          <a:xfrm>
            <a:off x="5243220" y="2811194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ลงทะเบียน</a:t>
            </a:r>
          </a:p>
        </p:txBody>
      </p:sp>
      <p:cxnSp>
        <p:nvCxnSpPr>
          <p:cNvPr id="7" name="Straight Connector 6"/>
          <p:cNvCxnSpPr>
            <a:stCxn id="4" idx="3"/>
            <a:endCxn id="6" idx="1"/>
          </p:cNvCxnSpPr>
          <p:nvPr/>
        </p:nvCxnSpPr>
        <p:spPr>
          <a:xfrm>
            <a:off x="4054803" y="3459266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3"/>
            <a:endCxn id="5" idx="1"/>
          </p:cNvCxnSpPr>
          <p:nvPr/>
        </p:nvCxnSpPr>
        <p:spPr>
          <a:xfrm>
            <a:off x="6971412" y="3459266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26811" y="3138058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62815" y="3136149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1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19769" y="3142851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1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0" y="3121825"/>
            <a:ext cx="445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22265" y="3136149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243220" y="2811194"/>
            <a:ext cx="1728192" cy="129614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/>
          <p:cNvSpPr txBox="1"/>
          <p:nvPr/>
        </p:nvSpPr>
        <p:spPr>
          <a:xfrm>
            <a:off x="5822010" y="3063222"/>
            <a:ext cx="57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dirty="0">
                <a:latin typeface="Kanit" pitchFamily="2" charset="-34"/>
                <a:cs typeface="Kanit" pitchFamily="2" charset="-34"/>
              </a:rPr>
              <a:t>การ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0332" y="5043062"/>
            <a:ext cx="8391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แปลงความสัมพันธ์ที่มีปัญหา ให้เป็นความสัมพันธ์แบบ </a:t>
            </a:r>
            <a:r>
              <a:rPr lang="en-US" dirty="0">
                <a:latin typeface="Kanit" pitchFamily="2" charset="-34"/>
                <a:cs typeface="Kanit" pitchFamily="2" charset="-34"/>
              </a:rPr>
              <a:t>1:M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288990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.06198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44444E-6 L -0.05651 -4.44444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5" grpId="0"/>
      <p:bldP spid="16" grpId="0"/>
      <p:bldP spid="18" grpId="0"/>
      <p:bldP spid="19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ตัวอย่างการสร้าง 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ER-Diagram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3254" y="2130461"/>
            <a:ext cx="9850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กำหนดและอธิบายความสัมพันธ์ (</a:t>
            </a:r>
            <a:r>
              <a:rPr lang="en-US" dirty="0">
                <a:latin typeface="Kanit" pitchFamily="2" charset="-34"/>
                <a:cs typeface="Kanit" pitchFamily="2" charset="-34"/>
              </a:rPr>
              <a:t>Relationship) </a:t>
            </a:r>
            <a:r>
              <a:rPr lang="th-TH" dirty="0">
                <a:latin typeface="Kanit" pitchFamily="2" charset="-34"/>
                <a:cs typeface="Kanit" pitchFamily="2" charset="-34"/>
              </a:rPr>
              <a:t>ระหว่าง </a:t>
            </a:r>
            <a:r>
              <a:rPr lang="en-US" dirty="0">
                <a:latin typeface="Kanit" pitchFamily="2" charset="-34"/>
                <a:cs typeface="Kanit" pitchFamily="2" charset="-34"/>
              </a:rPr>
              <a:t>Entity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61855" y="3426531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นักศึกษา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8206471" y="3426531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รายวิชา</a:t>
            </a:r>
          </a:p>
        </p:txBody>
      </p:sp>
      <p:sp>
        <p:nvSpPr>
          <p:cNvPr id="7" name="Flowchart: Decision 6"/>
          <p:cNvSpPr/>
          <p:nvPr/>
        </p:nvSpPr>
        <p:spPr>
          <a:xfrm>
            <a:off x="5434448" y="3174503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b="1" dirty="0">
                <a:latin typeface="Kanit" pitchFamily="2" charset="-34"/>
                <a:cs typeface="Kanit" pitchFamily="2" charset="-34"/>
              </a:rPr>
              <a:t>ลงทะเบียน</a:t>
            </a:r>
          </a:p>
        </p:txBody>
      </p:sp>
      <p:cxnSp>
        <p:nvCxnSpPr>
          <p:cNvPr id="8" name="Straight Connector 7"/>
          <p:cNvCxnSpPr>
            <a:stCxn id="5" idx="3"/>
            <a:endCxn id="7" idx="1"/>
          </p:cNvCxnSpPr>
          <p:nvPr/>
        </p:nvCxnSpPr>
        <p:spPr>
          <a:xfrm>
            <a:off x="4246031" y="3822575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7" idx="3"/>
            <a:endCxn id="6" idx="1"/>
          </p:cNvCxnSpPr>
          <p:nvPr/>
        </p:nvCxnSpPr>
        <p:spPr>
          <a:xfrm>
            <a:off x="7162640" y="3822575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18039" y="3390527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46431" y="3360910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73254" y="4866691"/>
            <a:ext cx="96965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400" dirty="0">
                <a:latin typeface="Kanit" pitchFamily="2" charset="-34"/>
                <a:cs typeface="Kanit" pitchFamily="2" charset="-34"/>
              </a:rPr>
              <a:t>สามารถอธิบายรายละเอียดได้ดังนี้</a:t>
            </a:r>
          </a:p>
          <a:p>
            <a:r>
              <a:rPr lang="th-TH" sz="2400" dirty="0">
                <a:latin typeface="Kanit" pitchFamily="2" charset="-34"/>
                <a:cs typeface="Kanit" pitchFamily="2" charset="-34"/>
              </a:rPr>
              <a:t>1.  นักศึกษากับรายวิชา :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Many to  many</a:t>
            </a:r>
          </a:p>
          <a:p>
            <a:r>
              <a:rPr lang="th-TH" sz="2400" dirty="0">
                <a:latin typeface="Kanit" pitchFamily="2" charset="-34"/>
                <a:cs typeface="Kanit" pitchFamily="2" charset="-34"/>
              </a:rPr>
              <a:t>นักศึกษาแต่ละคนสามารถลงทะเบียนได้หลายรายวิชา แต่ละรายวิชาสามารถมีนักศึกษาลงทะเบียนได้หลายคน</a:t>
            </a:r>
          </a:p>
        </p:txBody>
      </p:sp>
    </p:spTree>
    <p:extLst>
      <p:ext uri="{BB962C8B-B14F-4D97-AF65-F5344CB8AC3E}">
        <p14:creationId xmlns:p14="http://schemas.microsoft.com/office/powerpoint/2010/main" val="40951145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กิจกรรมกลุ่ม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81192" y="2190750"/>
            <a:ext cx="10584873" cy="393295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§"/>
              <a:defRPr sz="3200" kern="1200">
                <a:solidFill>
                  <a:schemeClr val="tx1"/>
                </a:solidFill>
                <a:latin typeface="BrowalliaUPC" pitchFamily="34" charset="-34"/>
                <a:ea typeface="+mn-ea"/>
                <a:cs typeface="BrowalliaUPC" pitchFamily="34" charset="-34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BrowalliaUPC" pitchFamily="34" charset="-34"/>
                <a:ea typeface="+mn-ea"/>
                <a:cs typeface="BrowalliaUPC" pitchFamily="34" charset="-34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BrowalliaUPC" pitchFamily="34" charset="-34"/>
                <a:ea typeface="+mn-ea"/>
                <a:cs typeface="BrowalliaUPC" pitchFamily="34" charset="-34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BrowalliaUPC" pitchFamily="34" charset="-34"/>
                <a:ea typeface="+mn-ea"/>
                <a:cs typeface="BrowalliaUPC" pitchFamily="34" charset="-34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BrowalliaUPC" pitchFamily="34" charset="-34"/>
                <a:ea typeface="+mn-ea"/>
                <a:cs typeface="BrowalliaUPC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dirty="0">
                <a:latin typeface="Kanit" pitchFamily="2" charset="-34"/>
                <a:cs typeface="Kanit" pitchFamily="2" charset="-34"/>
              </a:rPr>
              <a:t>ให้นักศึกษาลองสร้าง </a:t>
            </a:r>
            <a:r>
              <a:rPr lang="en-US" dirty="0">
                <a:latin typeface="Kanit" pitchFamily="2" charset="-34"/>
                <a:cs typeface="Kanit" pitchFamily="2" charset="-34"/>
              </a:rPr>
              <a:t>ER-Diagram </a:t>
            </a:r>
            <a:r>
              <a:rPr lang="th-TH" dirty="0">
                <a:latin typeface="Kanit" pitchFamily="2" charset="-34"/>
                <a:cs typeface="Kanit" pitchFamily="2" charset="-34"/>
              </a:rPr>
              <a:t>ระบบบริการนักศึกษา (</a:t>
            </a:r>
            <a:r>
              <a:rPr lang="en-US" dirty="0">
                <a:latin typeface="Kanit" pitchFamily="2" charset="-34"/>
                <a:cs typeface="Kanit" pitchFamily="2" charset="-34"/>
              </a:rPr>
              <a:t>ESS) </a:t>
            </a:r>
            <a:br>
              <a:rPr lang="th-TH" dirty="0">
                <a:latin typeface="Kanit" pitchFamily="2" charset="-34"/>
                <a:cs typeface="Kanit" pitchFamily="2" charset="-34"/>
              </a:rPr>
            </a:br>
            <a:r>
              <a:rPr lang="th-TH" dirty="0">
                <a:latin typeface="Kanit" pitchFamily="2" charset="-34"/>
                <a:cs typeface="Kanit" pitchFamily="2" charset="-34"/>
              </a:rPr>
              <a:t>โดยกำหนดให้มีเอ็นทิตี้อย่างน้อย </a:t>
            </a:r>
            <a:r>
              <a:rPr lang="en-US" dirty="0">
                <a:latin typeface="Kanit" pitchFamily="2" charset="-34"/>
                <a:cs typeface="Kanit" pitchFamily="2" charset="-34"/>
              </a:rPr>
              <a:t>4</a:t>
            </a:r>
            <a:r>
              <a:rPr lang="th-TH" dirty="0">
                <a:latin typeface="Kanit" pitchFamily="2" charset="-34"/>
                <a:cs typeface="Kanit" pitchFamily="2" charset="-34"/>
              </a:rPr>
              <a:t> เอ็นทิตี้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dirty="0">
                <a:latin typeface="Kanit" pitchFamily="2" charset="-34"/>
                <a:cs typeface="Kanit" pitchFamily="2" charset="-34"/>
              </a:rPr>
              <a:t>ให้กำหนดแอตทริบิวต์ให้กับแต่ละเอ็นทิตี้ด้วย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dirty="0">
                <a:latin typeface="Kanit" pitchFamily="2" charset="-34"/>
                <a:cs typeface="Kanit" pitchFamily="2" charset="-34"/>
              </a:rPr>
              <a:t>ทำการกำหนด </a:t>
            </a:r>
            <a:r>
              <a:rPr lang="en-US" dirty="0">
                <a:latin typeface="Kanit" pitchFamily="2" charset="-34"/>
                <a:cs typeface="Kanit" pitchFamily="2" charset="-34"/>
              </a:rPr>
              <a:t>PK </a:t>
            </a:r>
            <a:r>
              <a:rPr lang="th-TH" dirty="0">
                <a:latin typeface="Kanit" pitchFamily="2" charset="-34"/>
                <a:cs typeface="Kanit" pitchFamily="2" charset="-34"/>
              </a:rPr>
              <a:t>ให้แต่ละเอ็นทิตี้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dirty="0">
                <a:latin typeface="Kanit" pitchFamily="2" charset="-34"/>
                <a:cs typeface="Kanit" pitchFamily="2" charset="-34"/>
              </a:rPr>
              <a:t>และกำหนดความสัมพันธ์ระหว่างเอ็นทิตี้</a:t>
            </a:r>
            <a:endParaRPr lang="en-US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81619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พจนานุกรมข้อมูล (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Data Dictionary)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81192" y="2256283"/>
            <a:ext cx="11029616" cy="4019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folHlink"/>
              </a:buClr>
              <a:buNone/>
            </a:pPr>
            <a:r>
              <a:rPr lang="th-TH" sz="24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พจนานุกรมข้อมูล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แฟ้มที่เก็บรวบรวมรายละเอียดต่างๆ เกี่ยวกับข้อมูลที่จัดเก็บอยู่ภายในฐานข้อมูล รายละเอียดพื้นฐานประกอบด้วย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1. ชื่อรีเลชั่น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</a:t>
            </a:r>
            <a:r>
              <a:rPr lang="en-GB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2.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ชื่อแอตทริบิวต์</a:t>
            </a:r>
            <a:endParaRPr lang="en-US" sz="24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3.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คำอธิบายข้อมูล</a:t>
            </a:r>
            <a:endParaRPr lang="en-US" sz="24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en-GB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4.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ชนิดข้อมูล</a:t>
            </a:r>
            <a:r>
              <a:rPr lang="en-GB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</a:t>
            </a:r>
            <a:endParaRPr lang="th-TH" sz="24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</a:t>
            </a:r>
            <a:r>
              <a:rPr lang="en-GB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5.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คีย์หลัก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6. รายละเอียดอื่น ๆ</a:t>
            </a:r>
            <a:endParaRPr lang="en-GB" sz="24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1386000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Example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293948"/>
              </p:ext>
            </p:extLst>
          </p:nvPr>
        </p:nvGraphicFramePr>
        <p:xfrm>
          <a:off x="581192" y="2966861"/>
          <a:ext cx="11029617" cy="35586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6907">
                  <a:extLst>
                    <a:ext uri="{9D8B030D-6E8A-4147-A177-3AD203B41FA5}">
                      <a16:colId xmlns:a16="http://schemas.microsoft.com/office/drawing/2014/main" val="1049524141"/>
                    </a:ext>
                  </a:extLst>
                </a:gridCol>
                <a:gridCol w="2456526">
                  <a:extLst>
                    <a:ext uri="{9D8B030D-6E8A-4147-A177-3AD203B41FA5}">
                      <a16:colId xmlns:a16="http://schemas.microsoft.com/office/drawing/2014/main" val="366515383"/>
                    </a:ext>
                  </a:extLst>
                </a:gridCol>
                <a:gridCol w="2128728">
                  <a:extLst>
                    <a:ext uri="{9D8B030D-6E8A-4147-A177-3AD203B41FA5}">
                      <a16:colId xmlns:a16="http://schemas.microsoft.com/office/drawing/2014/main" val="951118721"/>
                    </a:ext>
                  </a:extLst>
                </a:gridCol>
                <a:gridCol w="2128728">
                  <a:extLst>
                    <a:ext uri="{9D8B030D-6E8A-4147-A177-3AD203B41FA5}">
                      <a16:colId xmlns:a16="http://schemas.microsoft.com/office/drawing/2014/main" val="2646155494"/>
                    </a:ext>
                  </a:extLst>
                </a:gridCol>
                <a:gridCol w="2128728">
                  <a:extLst>
                    <a:ext uri="{9D8B030D-6E8A-4147-A177-3AD203B41FA5}">
                      <a16:colId xmlns:a16="http://schemas.microsoft.com/office/drawing/2014/main" val="2806129325"/>
                    </a:ext>
                  </a:extLst>
                </a:gridCol>
              </a:tblGrid>
              <a:tr h="77725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Kanit" pitchFamily="2" charset="-34"/>
                          <a:cs typeface="Kanit" pitchFamily="2" charset="-34"/>
                        </a:rPr>
                        <a:t>Field</a:t>
                      </a:r>
                      <a:r>
                        <a:rPr lang="en-US" sz="2000" b="1" baseline="0" dirty="0">
                          <a:latin typeface="Kanit" pitchFamily="2" charset="-34"/>
                          <a:cs typeface="Kanit" pitchFamily="2" charset="-34"/>
                        </a:rPr>
                        <a:t> name</a:t>
                      </a:r>
                      <a:endParaRPr lang="th-TH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Kanit" pitchFamily="2" charset="-34"/>
                          <a:cs typeface="Kanit" pitchFamily="2" charset="-34"/>
                        </a:rPr>
                        <a:t>Description</a:t>
                      </a:r>
                      <a:endParaRPr lang="th-TH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Kanit" pitchFamily="2" charset="-34"/>
                          <a:cs typeface="Kanit" pitchFamily="2" charset="-34"/>
                        </a:rPr>
                        <a:t>Data type</a:t>
                      </a:r>
                      <a:endParaRPr lang="th-TH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Kanit" pitchFamily="2" charset="-34"/>
                          <a:cs typeface="Kanit" pitchFamily="2" charset="-34"/>
                        </a:rPr>
                        <a:t>Field size</a:t>
                      </a:r>
                      <a:endParaRPr lang="th-TH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Kanit" pitchFamily="2" charset="-34"/>
                          <a:cs typeface="Kanit" pitchFamily="2" charset="-34"/>
                        </a:rPr>
                        <a:t>Key</a:t>
                      </a:r>
                      <a:endParaRPr lang="th-TH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444800"/>
                  </a:ext>
                </a:extLst>
              </a:tr>
              <a:tr h="55627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Kanit" pitchFamily="2" charset="-34"/>
                          <a:cs typeface="Kanit" pitchFamily="2" charset="-34"/>
                        </a:rPr>
                        <a:t>Stu_id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รหัสนักศึกษา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Varchar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13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PK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30550"/>
                  </a:ext>
                </a:extLst>
              </a:tr>
              <a:tr h="55627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Kanit" pitchFamily="2" charset="-34"/>
                          <a:cs typeface="Kanit" pitchFamily="2" charset="-34"/>
                        </a:rPr>
                        <a:t>Std_prefix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คำนำหน้าชื่อ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Varchar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5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605192"/>
                  </a:ext>
                </a:extLst>
              </a:tr>
              <a:tr h="55627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Kanit" pitchFamily="2" charset="-34"/>
                          <a:cs typeface="Kanit" pitchFamily="2" charset="-34"/>
                        </a:rPr>
                        <a:t>Std_name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ชื่อนักศึกษา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Varchar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25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855284"/>
                  </a:ext>
                </a:extLst>
              </a:tr>
              <a:tr h="55627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Kanit" pitchFamily="2" charset="-34"/>
                          <a:cs typeface="Kanit" pitchFamily="2" charset="-34"/>
                        </a:rPr>
                        <a:t>Std_sname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นามสกุลนักศึกษา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Varchar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600029"/>
                  </a:ext>
                </a:extLst>
              </a:tr>
              <a:tr h="55627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Kanit" pitchFamily="2" charset="-34"/>
                          <a:cs typeface="Kanit" pitchFamily="2" charset="-34"/>
                        </a:rPr>
                        <a:t>Subject_id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รหัสรายวิชา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Varchar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FK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55058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1191" y="2227620"/>
            <a:ext cx="8230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>
                <a:latin typeface="Kanit" pitchFamily="2" charset="-34"/>
                <a:cs typeface="Kanit" pitchFamily="2" charset="-34"/>
              </a:rPr>
              <a:t>ตารางนักศึกษา (</a:t>
            </a:r>
            <a:r>
              <a:rPr lang="en-US" sz="3600" dirty="0">
                <a:latin typeface="Kanit" pitchFamily="2" charset="-34"/>
                <a:cs typeface="Kanit" pitchFamily="2" charset="-34"/>
              </a:rPr>
              <a:t>STUDENT)</a:t>
            </a:r>
            <a:endParaRPr lang="th-TH" sz="36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0748998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Any questions?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21582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4230</TotalTime>
  <Words>912</Words>
  <Application>Microsoft Office PowerPoint</Application>
  <PresentationFormat>แบบจอกว้าง</PresentationFormat>
  <Paragraphs>179</Paragraphs>
  <Slides>25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9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25</vt:i4>
      </vt:variant>
    </vt:vector>
  </HeadingPairs>
  <TitlesOfParts>
    <vt:vector size="35" baseType="lpstr">
      <vt:lpstr>Arial</vt:lpstr>
      <vt:lpstr>Calibri</vt:lpstr>
      <vt:lpstr>Gill Sans MT</vt:lpstr>
      <vt:lpstr>Kanit</vt:lpstr>
      <vt:lpstr>Monotype Sorts</vt:lpstr>
      <vt:lpstr>Prompt</vt:lpstr>
      <vt:lpstr>TH SarabunPSK</vt:lpstr>
      <vt:lpstr>Wingdings</vt:lpstr>
      <vt:lpstr>Wingdings 2</vt:lpstr>
      <vt:lpstr>Dividend</vt:lpstr>
      <vt:lpstr>บทที่ 6 แบบจำลองข้อมูล (Data  Modeling) </vt:lpstr>
      <vt:lpstr>บทที่ 6 แบบจำลองข้อมูล </vt:lpstr>
      <vt:lpstr>Process Model Vs Data Model</vt:lpstr>
      <vt:lpstr>Example</vt:lpstr>
      <vt:lpstr>งานนำเสนอ PowerPoint</vt:lpstr>
      <vt:lpstr>งานนำเสนอ PowerPoint</vt:lpstr>
      <vt:lpstr>งานนำเสนอ PowerPoint</vt:lpstr>
      <vt:lpstr>Entity Relationship Diagram (ERD)</vt:lpstr>
      <vt:lpstr>Entity Relationship Diagram (ERD)</vt:lpstr>
      <vt:lpstr>Entitys</vt:lpstr>
      <vt:lpstr>Entitys</vt:lpstr>
      <vt:lpstr>Entitys</vt:lpstr>
      <vt:lpstr>Attributes</vt:lpstr>
      <vt:lpstr>Attributes</vt:lpstr>
      <vt:lpstr>Relationships</vt:lpstr>
      <vt:lpstr>Relationships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ตัวอย่างการสร้าง ER-Diagram</vt:lpstr>
      <vt:lpstr>กิจกรรมกลุ่ม</vt:lpstr>
      <vt:lpstr>พจนานุกรมข้อมูล (Data Dictionary)</vt:lpstr>
      <vt:lpstr>Example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บทที่ 1  ความรู้ด้านธุรกิจและเทคโนโลยีสารสนเทศ</dc:title>
  <dc:creator>Windows User</dc:creator>
  <cp:lastModifiedBy>Pakawat Vihokratana</cp:lastModifiedBy>
  <cp:revision>837</cp:revision>
  <dcterms:created xsi:type="dcterms:W3CDTF">2023-03-22T07:54:09Z</dcterms:created>
  <dcterms:modified xsi:type="dcterms:W3CDTF">2025-12-09T08:45:05Z</dcterms:modified>
</cp:coreProperties>
</file>